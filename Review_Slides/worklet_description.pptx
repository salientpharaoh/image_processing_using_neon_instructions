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98D74-CA4A-4B1C-968F-4B19AB051057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8CD79-EE60-46CA-9D21-02D0161AF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9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5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74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80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5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52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79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4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43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70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8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1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36BD8-3D6D-4938-AABF-989E6A8D58AB}" type="datetimeFigureOut">
              <a:rPr lang="en-IN" smtClean="0"/>
              <a:t>25-01-2024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06242-7D01-4F83-A12E-9CA2BAA6A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05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ormalization_(image_processing)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eloper.arm.com/architectures/instruction-sets/intrinsics/#f:@navigationhierarchiessimdisa" TargetMode="External"/><Relationship Id="rId4" Type="http://schemas.openxmlformats.org/officeDocument/2006/relationships/hyperlink" Target="https://developer.arm.com/documentation/102467/0100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34051" y="718387"/>
            <a:ext cx="4011360" cy="60900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898" y="146255"/>
            <a:ext cx="1024370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Work-let Area – AI, ML  </a:t>
            </a: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4094"/>
                </a:solidFill>
                <a:effectLst/>
                <a:uLnTx/>
                <a:uFillTx/>
                <a:latin typeface="SamsungOne 800" panose="020B0903030303020204" pitchFamily="34" charset="0"/>
                <a:ea typeface="SamsungOne 800" panose="020B0903030303020204" pitchFamily="34" charset="0"/>
                <a:cs typeface="+mn-cs"/>
              </a:rPr>
              <a:t>| NEON</a:t>
            </a:r>
            <a:r>
              <a:rPr lang="en-IN" sz="2000" dirty="0" smtClean="0">
                <a:solidFill>
                  <a:srgbClr val="0E4094"/>
                </a:solidFill>
                <a:latin typeface="SamsungOne 800" panose="020B0903030303020204" pitchFamily="34" charset="0"/>
                <a:ea typeface="SamsungOne 800" panose="020B0903030303020204" pitchFamily="34" charset="0"/>
              </a:rPr>
              <a:t> implementation of mathematical operations for image processing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E4094"/>
              </a:solidFill>
              <a:effectLst/>
              <a:uLnTx/>
              <a:uFillTx/>
              <a:latin typeface="SamsungOne 800" panose="020B0903030303020204" pitchFamily="34" charset="0"/>
              <a:ea typeface="SamsungOne 800" panose="020B0903030303020204" pitchFamily="34" charset="0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133" y="116201"/>
            <a:ext cx="1811867" cy="3808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4356416" y="3663771"/>
            <a:ext cx="6569492" cy="184665"/>
            <a:chOff x="5926666" y="5681136"/>
            <a:chExt cx="5435602" cy="143934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6002866" y="5753103"/>
              <a:ext cx="531706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5926666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7690533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454400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1218268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69333" y="676006"/>
            <a:ext cx="3901263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dirty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Problem </a:t>
            </a:r>
            <a:r>
              <a:rPr lang="en-IN" sz="1600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Statement:</a:t>
            </a:r>
            <a:endParaRPr lang="en-IN" sz="1600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US" sz="1000" dirty="0"/>
              <a:t>Implement the following image processing operations done on image buffer</a:t>
            </a:r>
          </a:p>
          <a:p>
            <a:pPr marL="635000" lvl="1" indent="-177800">
              <a:buFont typeface="Arial" panose="020B0604020202020204" pitchFamily="34" charset="0"/>
              <a:buChar char="•"/>
              <a:defRPr/>
            </a:pPr>
            <a:r>
              <a:rPr lang="en-US" sz="1000" dirty="0" smtClean="0"/>
              <a:t>Multiplication</a:t>
            </a:r>
            <a:r>
              <a:rPr lang="en-US" sz="1000" dirty="0" smtClean="0"/>
              <a:t>, </a:t>
            </a:r>
            <a:endParaRPr lang="en-US" sz="1000" dirty="0" smtClean="0"/>
          </a:p>
          <a:p>
            <a:pPr marL="635000" lvl="1" indent="-177800">
              <a:buFont typeface="Arial" panose="020B0604020202020204" pitchFamily="34" charset="0"/>
              <a:buChar char="•"/>
              <a:defRPr/>
            </a:pPr>
            <a:r>
              <a:rPr lang="en-US" sz="1000" dirty="0" smtClean="0"/>
              <a:t>Division</a:t>
            </a:r>
            <a:r>
              <a:rPr lang="en-US" sz="1000" dirty="0" smtClean="0"/>
              <a:t>, </a:t>
            </a:r>
            <a:endParaRPr lang="en-US" sz="1000" dirty="0" smtClean="0"/>
          </a:p>
          <a:p>
            <a:pPr marL="635000" lvl="1" indent="-177800">
              <a:buFont typeface="Arial" panose="020B0604020202020204" pitchFamily="34" charset="0"/>
              <a:buChar char="•"/>
              <a:defRPr/>
            </a:pPr>
            <a:r>
              <a:rPr lang="en-US" sz="1000" dirty="0" smtClean="0"/>
              <a:t>Normalization </a:t>
            </a:r>
            <a:r>
              <a:rPr lang="en-US" sz="1000" dirty="0" smtClean="0"/>
              <a:t>&amp; </a:t>
            </a:r>
            <a:r>
              <a:rPr lang="en-US" sz="1000" dirty="0" err="1" smtClean="0"/>
              <a:t>Denormalization</a:t>
            </a:r>
            <a:r>
              <a:rPr lang="en-US" sz="1000" dirty="0" smtClean="0"/>
              <a:t> </a:t>
            </a:r>
          </a:p>
          <a:p>
            <a:pPr>
              <a:defRPr/>
            </a:pPr>
            <a:r>
              <a:rPr lang="en-US" sz="1000" dirty="0" smtClean="0"/>
              <a:t>in </a:t>
            </a:r>
            <a:r>
              <a:rPr lang="en-US" sz="1000" dirty="0"/>
              <a:t>NEON &amp; further optimize it in assembly </a:t>
            </a:r>
            <a:r>
              <a:rPr lang="en-US" sz="1000" dirty="0" smtClean="0"/>
              <a:t>coding</a:t>
            </a:r>
            <a:endParaRPr lang="en-US" sz="1000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>
              <a:defRPr/>
            </a:pPr>
            <a:r>
              <a:rPr lang="en-IN" sz="1600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Description:</a:t>
            </a:r>
            <a:endParaRPr kumimoji="0" lang="en-IN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Given an image/images of any size, implement multiplication </a:t>
            </a:r>
            <a:r>
              <a:rPr lang="en-IN" sz="1000" dirty="0" smtClean="0"/>
              <a:t>and </a:t>
            </a:r>
            <a:r>
              <a:rPr lang="en-IN" sz="1000" dirty="0" smtClean="0"/>
              <a:t>division </a:t>
            </a:r>
            <a:r>
              <a:rPr lang="en-IN" sz="1000" dirty="0" smtClean="0"/>
              <a:t>of two images in NEON. Also, implement Normalization and </a:t>
            </a:r>
            <a:r>
              <a:rPr lang="en-IN" sz="1000" dirty="0" err="1" smtClean="0"/>
              <a:t>Denormalization</a:t>
            </a:r>
            <a:r>
              <a:rPr lang="en-IN" sz="1000" dirty="0" smtClean="0"/>
              <a:t> operations </a:t>
            </a:r>
            <a:r>
              <a:rPr lang="en-IN" sz="1000" dirty="0" smtClean="0"/>
              <a:t>in </a:t>
            </a:r>
            <a:r>
              <a:rPr lang="en-IN" sz="1000" dirty="0" smtClean="0"/>
              <a:t>NEON.</a:t>
            </a: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endParaRPr lang="en-IN" sz="1000" dirty="0"/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NDK build set up would be provided which reads the input image using </a:t>
            </a:r>
            <a:r>
              <a:rPr lang="en-IN" sz="1000" dirty="0" err="1" smtClean="0"/>
              <a:t>openCV</a:t>
            </a:r>
            <a:r>
              <a:rPr lang="en-IN" sz="1000" dirty="0" smtClean="0"/>
              <a:t> API &amp; save the image to file. This NDK build can be built in windows or </a:t>
            </a:r>
            <a:r>
              <a:rPr lang="en-IN" sz="1000" dirty="0" err="1" smtClean="0"/>
              <a:t>linux</a:t>
            </a:r>
            <a:r>
              <a:rPr lang="en-IN" sz="1000" dirty="0" smtClean="0"/>
              <a:t> PC &amp; execution can be done on any armv7 or armv8 </a:t>
            </a:r>
            <a:r>
              <a:rPr lang="en-IN" sz="1000" dirty="0" err="1" smtClean="0"/>
              <a:t>samartphone</a:t>
            </a:r>
            <a:r>
              <a:rPr lang="en-IN" sz="1000" dirty="0" smtClean="0"/>
              <a:t>.</a:t>
            </a:r>
            <a:endParaRPr lang="en-IN" sz="1000" dirty="0"/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2949267" y="4773932"/>
            <a:ext cx="0" cy="158453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76736" y="3828174"/>
            <a:ext cx="185644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Kick Off &lt; 1</a:t>
            </a:r>
            <a:r>
              <a:rPr kumimoji="0" lang="en-IN" sz="1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st</a:t>
            </a: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  Month 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Understand the Problem definition &amp; scope of the development.</a:t>
            </a: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endParaRPr lang="en-IN" sz="1000" dirty="0"/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Understand the basics of OpenCV APIs to perform all operations – </a:t>
            </a:r>
            <a:r>
              <a:rPr lang="en-IN" sz="1000" dirty="0" err="1" smtClean="0"/>
              <a:t>mul</a:t>
            </a:r>
            <a:r>
              <a:rPr lang="en-IN" sz="1000" dirty="0" smtClean="0"/>
              <a:t>, div, norm &amp; </a:t>
            </a:r>
            <a:r>
              <a:rPr lang="en-IN" sz="1000" dirty="0" err="1" smtClean="0"/>
              <a:t>denorm</a:t>
            </a:r>
            <a:r>
              <a:rPr lang="en-IN" sz="1000" dirty="0" smtClean="0"/>
              <a:t>.</a:t>
            </a:r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endParaRPr lang="en-IN" sz="1000" dirty="0"/>
          </a:p>
          <a:p>
            <a:pPr marL="177800" indent="-17780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Go through the NEON documentation.</a:t>
            </a:r>
            <a:endParaRPr lang="en-IN" sz="1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61796" y="3834032"/>
            <a:ext cx="1922317" cy="275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Milestone 1 &lt; 2</a:t>
            </a:r>
            <a:r>
              <a:rPr kumimoji="0" lang="en-IN" sz="1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nd</a:t>
            </a: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 Month 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Implement the operations in python </a:t>
            </a:r>
            <a:r>
              <a:rPr lang="en-IN" sz="1000" dirty="0" smtClean="0"/>
              <a:t>or </a:t>
            </a:r>
            <a:r>
              <a:rPr lang="en-IN" sz="1000" dirty="0" smtClean="0"/>
              <a:t>C++.</a:t>
            </a:r>
            <a:endParaRPr lang="en-IN" sz="1000" dirty="0"/>
          </a:p>
          <a:p>
            <a:pPr lvl="0">
              <a:defRPr/>
            </a:pPr>
            <a:endParaRPr lang="en-IN" sz="1000" dirty="0" smtClean="0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Collect the validation images from smartphone.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1000" dirty="0" smtClean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Compare </a:t>
            </a:r>
            <a:r>
              <a:rPr lang="en-IN" sz="1000" dirty="0" smtClean="0"/>
              <a:t>the output of python and C++ with </a:t>
            </a:r>
            <a:r>
              <a:rPr lang="en-IN" sz="1000" dirty="0" err="1" smtClean="0"/>
              <a:t>openCV</a:t>
            </a:r>
            <a:r>
              <a:rPr lang="en-IN" sz="1000" dirty="0" smtClean="0"/>
              <a:t> API.</a:t>
            </a: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Start with the implementation of the </a:t>
            </a:r>
            <a:r>
              <a:rPr lang="en-IN" sz="1000" dirty="0" smtClean="0"/>
              <a:t>developed python or </a:t>
            </a:r>
            <a:r>
              <a:rPr lang="en-IN" sz="1000" dirty="0" err="1" smtClean="0"/>
              <a:t>c++</a:t>
            </a:r>
            <a:r>
              <a:rPr lang="en-IN" sz="1000" dirty="0" smtClean="0"/>
              <a:t> code of </a:t>
            </a:r>
            <a:r>
              <a:rPr lang="en-IN" sz="1000" dirty="0"/>
              <a:t>downscaling </a:t>
            </a:r>
            <a:r>
              <a:rPr lang="en-IN" sz="1000" dirty="0" smtClean="0"/>
              <a:t>into NEON.</a:t>
            </a:r>
            <a:r>
              <a:rPr lang="en-US" sz="900" dirty="0">
                <a:solidFill>
                  <a:prstClr val="black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t/>
            </a:r>
            <a:br>
              <a:rPr lang="en-US" sz="900" dirty="0">
                <a:solidFill>
                  <a:prstClr val="black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</a:br>
            <a:endParaRPr lang="en-US" sz="900" dirty="0">
              <a:solidFill>
                <a:prstClr val="black"/>
              </a:solidFill>
              <a:latin typeface="SamsungOne 400" panose="020B0503030303020204" pitchFamily="34" charset="0"/>
              <a:ea typeface="SamsungOne 400" panose="020B0503030303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84113" y="3828174"/>
            <a:ext cx="19304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Milestone 2 &lt; 4</a:t>
            </a:r>
            <a:r>
              <a:rPr kumimoji="0" lang="en-IN" sz="1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th</a:t>
            </a: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 Month 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 smtClean="0"/>
              <a:t>Complete the implementation of </a:t>
            </a:r>
            <a:r>
              <a:rPr lang="en-IN" sz="900" dirty="0" err="1" smtClean="0"/>
              <a:t>atleast</a:t>
            </a:r>
            <a:r>
              <a:rPr lang="en-IN" sz="900" dirty="0" smtClean="0"/>
              <a:t> one of the </a:t>
            </a:r>
            <a:r>
              <a:rPr lang="en-IN" sz="900" dirty="0"/>
              <a:t>algorithms in NEON</a:t>
            </a:r>
            <a:r>
              <a:rPr lang="en-IN" sz="900" dirty="0" smtClean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9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/>
              <a:t>Generate the outputs of these algorithms </a:t>
            </a:r>
            <a:r>
              <a:rPr lang="en-IN" sz="900" dirty="0" smtClean="0"/>
              <a:t>on </a:t>
            </a:r>
            <a:r>
              <a:rPr lang="en-IN" sz="900" dirty="0" smtClean="0"/>
              <a:t>the </a:t>
            </a:r>
            <a:r>
              <a:rPr lang="en-IN" sz="900" dirty="0" smtClean="0"/>
              <a:t>validation </a:t>
            </a:r>
            <a:r>
              <a:rPr lang="en-IN" sz="900" dirty="0" smtClean="0"/>
              <a:t>images </a:t>
            </a:r>
            <a:r>
              <a:rPr lang="en-IN" sz="900" dirty="0" smtClean="0"/>
              <a:t>on python or </a:t>
            </a:r>
            <a:r>
              <a:rPr lang="en-IN" sz="900" dirty="0" err="1" smtClean="0"/>
              <a:t>c++</a:t>
            </a:r>
            <a:r>
              <a:rPr lang="en-IN" sz="900" dirty="0" smtClean="0"/>
              <a:t> code &amp; </a:t>
            </a:r>
            <a:r>
              <a:rPr lang="en-IN" sz="900" dirty="0" err="1" smtClean="0"/>
              <a:t>openCV</a:t>
            </a:r>
            <a:r>
              <a:rPr lang="en-IN" sz="900" dirty="0" smtClean="0"/>
              <a:t> API &amp; NEON.</a:t>
            </a:r>
            <a:endParaRPr lang="en-IN" sz="9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9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/>
              <a:t>Image quality assessment should be done qualitatively ( PSNR or SSIM )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9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/>
              <a:t>Start the implementation of the assembly code for the above algorithms.</a:t>
            </a:r>
            <a:endParaRPr lang="en-IN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9817402" y="3842212"/>
            <a:ext cx="175952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Closure &lt; 6</a:t>
            </a:r>
            <a:r>
              <a:rPr kumimoji="0" lang="en-IN" sz="1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th</a:t>
            </a:r>
            <a:r>
              <a:rPr kumimoji="0" lang="en-IN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rPr>
              <a:t> Month &gt;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900" dirty="0" smtClean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 smtClean="0"/>
              <a:t>NEON </a:t>
            </a:r>
            <a:r>
              <a:rPr lang="en-IN" sz="900" dirty="0"/>
              <a:t>&amp; assembly implementation of </a:t>
            </a:r>
            <a:r>
              <a:rPr lang="en-IN" sz="900"/>
              <a:t>all </a:t>
            </a:r>
            <a:r>
              <a:rPr lang="en-IN" sz="900" smtClean="0"/>
              <a:t>the </a:t>
            </a:r>
            <a:r>
              <a:rPr lang="en-IN" sz="900" dirty="0"/>
              <a:t>algorithms are completed.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lang="en-IN" sz="900" dirty="0"/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IN" sz="900" dirty="0"/>
              <a:t>A detailed report is prepared with summary of outcome of NEON code with profiling details on the smartphone tested.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7253" y="654219"/>
            <a:ext cx="760012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Expectations:</a:t>
            </a:r>
            <a:endParaRPr lang="en-IN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NEON implementation of Multiplication, Division, Normalisation &amp; Denormalization is completed &amp; working for any size of image. </a:t>
            </a:r>
            <a:endParaRPr lang="en-IN" sz="1000" dirty="0"/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When image </a:t>
            </a:r>
            <a:r>
              <a:rPr lang="en-IN" sz="1000" dirty="0" smtClean="0"/>
              <a:t>normalisation/denormalization </a:t>
            </a:r>
            <a:r>
              <a:rPr lang="en-IN" sz="1000" dirty="0"/>
              <a:t>is done, </a:t>
            </a:r>
            <a:r>
              <a:rPr lang="en-IN" sz="1000" dirty="0" smtClean="0"/>
              <a:t>the precision should be maintained as required. Int16 to float16 or float32 to int8.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Share the execution time of algorithms of NEON code Vs python or </a:t>
            </a:r>
            <a:r>
              <a:rPr lang="en-IN" sz="1000" dirty="0" err="1" smtClean="0"/>
              <a:t>c++</a:t>
            </a:r>
            <a:r>
              <a:rPr lang="en-IN" sz="1000" dirty="0" smtClean="0"/>
              <a:t> code on same smartphone device</a:t>
            </a:r>
            <a:r>
              <a:rPr lang="en-IN" sz="1000" dirty="0" smtClean="0"/>
              <a:t>.</a:t>
            </a:r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Optimize the NEON operation using assembly code</a:t>
            </a:r>
            <a:r>
              <a:rPr lang="en-IN" sz="1000" dirty="0" smtClean="0"/>
              <a:t>.</a:t>
            </a:r>
            <a:endParaRPr lang="en-IN" sz="1000" dirty="0" smtClean="0"/>
          </a:p>
          <a:p>
            <a:pPr marL="17780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Image </a:t>
            </a:r>
            <a:r>
              <a:rPr lang="en-IN" sz="1000" dirty="0"/>
              <a:t>quality </a:t>
            </a:r>
            <a:r>
              <a:rPr lang="en-IN" sz="1000" dirty="0" smtClean="0"/>
              <a:t>assessment </a:t>
            </a: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 smtClean="0"/>
              <a:t>OpenCV operations &amp; NEON operations should be similar without any artefacts.</a:t>
            </a:r>
          </a:p>
          <a:p>
            <a:pPr marL="635000" lvl="1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S</a:t>
            </a:r>
            <a:r>
              <a:rPr lang="en-IN" sz="1000" dirty="0" smtClean="0"/>
              <a:t>hould </a:t>
            </a:r>
            <a:r>
              <a:rPr lang="en-IN" sz="1000" dirty="0"/>
              <a:t>be done qualitatively </a:t>
            </a:r>
            <a:r>
              <a:rPr lang="en-IN" sz="1000" dirty="0" smtClean="0"/>
              <a:t> &amp; quantitatively (PSNR , SSIM </a:t>
            </a:r>
            <a:r>
              <a:rPr lang="en-IN" sz="1000" dirty="0" err="1" smtClean="0"/>
              <a:t>etc</a:t>
            </a:r>
            <a:r>
              <a:rPr lang="en-IN" sz="1000" dirty="0" smtClean="0"/>
              <a:t>)</a:t>
            </a:r>
            <a:endParaRPr lang="en-IN" sz="1000" dirty="0"/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amsungOne 400" panose="020B0503030303020204" pitchFamily="34" charset="0"/>
              <a:ea typeface="SamsungOne 400" panose="020B0503030303020204" pitchFamily="34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Training/ </a:t>
            </a:r>
            <a:r>
              <a:rPr lang="en-IN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Pre-requisites:</a:t>
            </a:r>
            <a:endParaRPr lang="en-IN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  <a:p>
            <a:pPr marL="177800" lvl="0" indent="-1778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sz="1000" dirty="0"/>
              <a:t>Knowledge of usage of image processing lib </a:t>
            </a:r>
            <a:r>
              <a:rPr lang="en-IN" sz="1000" dirty="0" err="1"/>
              <a:t>openCV</a:t>
            </a:r>
            <a:r>
              <a:rPr lang="en-IN" sz="1000" dirty="0"/>
              <a:t> </a:t>
            </a:r>
            <a:r>
              <a:rPr lang="en-IN" sz="1000" dirty="0" smtClean="0"/>
              <a:t>on how to read &amp; write image files.</a:t>
            </a:r>
            <a:endParaRPr lang="en-IN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9459576" y="513391"/>
            <a:ext cx="2732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Work-let duration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6 months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9333" y="5492840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Mentor:</a:t>
            </a:r>
            <a:endParaRPr lang="en-IN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692" y="3593921"/>
            <a:ext cx="404363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References:</a:t>
            </a:r>
            <a:endParaRPr lang="en-IN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en-US" sz="1000" dirty="0"/>
              <a:t>Normalization Of Image: </a:t>
            </a:r>
            <a:r>
              <a:rPr lang="en-US" sz="1000" dirty="0">
                <a:hlinkClick r:id="rId3"/>
              </a:rPr>
              <a:t>https://en.wikipedia.org/wiki/Normalization_(image_processing</a:t>
            </a:r>
            <a:r>
              <a:rPr lang="en-US" sz="1000" dirty="0" smtClean="0">
                <a:hlinkClick r:id="rId3"/>
              </a:rPr>
              <a:t>)</a:t>
            </a:r>
            <a:endParaRPr lang="en-US" sz="1000" dirty="0"/>
          </a:p>
          <a:p>
            <a:pPr marL="228600" indent="-228600">
              <a:buAutoNum type="arabicPeriod"/>
            </a:pPr>
            <a:endParaRPr lang="en-IN" sz="1000" dirty="0" smtClean="0"/>
          </a:p>
          <a:p>
            <a:pPr marL="228600" indent="-228600">
              <a:buAutoNum type="arabicPeriod"/>
            </a:pPr>
            <a:r>
              <a:rPr lang="en-IN" sz="1000" dirty="0" smtClean="0"/>
              <a:t>What is NEON programming </a:t>
            </a:r>
            <a:r>
              <a:rPr lang="en-IN" sz="1000" dirty="0"/>
              <a:t>- </a:t>
            </a:r>
            <a:r>
              <a:rPr lang="en-IN" sz="1000" dirty="0">
                <a:hlinkClick r:id="rId4"/>
              </a:rPr>
              <a:t>https://</a:t>
            </a:r>
            <a:r>
              <a:rPr lang="en-IN" sz="1000" dirty="0" smtClean="0">
                <a:hlinkClick r:id="rId4"/>
              </a:rPr>
              <a:t>developer.arm.com/documentation/102467/0100/Overview</a:t>
            </a:r>
            <a:r>
              <a:rPr lang="en-IN" sz="1000" dirty="0" smtClean="0"/>
              <a:t> </a:t>
            </a:r>
          </a:p>
          <a:p>
            <a:pPr marL="228600" indent="-228600">
              <a:buAutoNum type="arabicPeriod"/>
            </a:pPr>
            <a:endParaRPr lang="en-IN" sz="1000" dirty="0" smtClean="0"/>
          </a:p>
          <a:p>
            <a:pPr marL="228600" indent="-228600">
              <a:buAutoNum type="arabicPeriod"/>
            </a:pPr>
            <a:r>
              <a:rPr lang="en-IN" sz="1000" dirty="0" smtClean="0"/>
              <a:t>NEON documentation – </a:t>
            </a:r>
            <a:r>
              <a:rPr lang="en-IN" sz="1000" dirty="0" smtClean="0">
                <a:hlinkClick r:id="rId5"/>
              </a:rPr>
              <a:t>https</a:t>
            </a:r>
            <a:r>
              <a:rPr lang="en-IN" sz="1000" dirty="0">
                <a:hlinkClick r:id="rId5"/>
              </a:rPr>
              <a:t>://developer.arm.com/architectures/instruction-sets/intrinsics/#f:@navigationhierarchiessimdisa</a:t>
            </a:r>
            <a:r>
              <a:rPr lang="en-IN" sz="1000" dirty="0" smtClean="0"/>
              <a:t>= 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H="1">
            <a:off x="182852" y="5492840"/>
            <a:ext cx="3874223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169333" y="3593921"/>
            <a:ext cx="3874223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4317615" y="3338278"/>
            <a:ext cx="7549765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16992" y="3292717"/>
            <a:ext cx="144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 smtClean="0">
                <a:solidFill>
                  <a:srgbClr val="0E4094"/>
                </a:solidFill>
                <a:latin typeface="Arial" panose="020B0604020202020204" pitchFamily="34" charset="0"/>
                <a:ea typeface="SamsungOne 600C" panose="020B0706030303020204" pitchFamily="34" charset="0"/>
                <a:cs typeface="Arial" panose="020B0604020202020204" pitchFamily="34" charset="0"/>
              </a:rPr>
              <a:t>Milestones:</a:t>
            </a:r>
            <a:endParaRPr lang="en-IN" b="1" dirty="0">
              <a:solidFill>
                <a:srgbClr val="0E4094"/>
              </a:solidFill>
              <a:latin typeface="Arial" panose="020B0604020202020204" pitchFamily="34" charset="0"/>
              <a:ea typeface="SamsungOne 600C" panose="020B0706030303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9333" y="5927577"/>
            <a:ext cx="39989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Akshit</a:t>
            </a:r>
            <a:r>
              <a:rPr lang="en-IN" sz="1000" dirty="0"/>
              <a:t> </a:t>
            </a:r>
            <a:r>
              <a:rPr lang="en-IN" sz="1000" dirty="0" smtClean="0"/>
              <a:t>Agarwal                                           Rahul Varna</a:t>
            </a:r>
            <a:endParaRPr lang="en-IN" sz="1000" dirty="0"/>
          </a:p>
          <a:p>
            <a:r>
              <a:rPr lang="en-IN" sz="1000" dirty="0" smtClean="0"/>
              <a:t>Senior Engineer                                         Staff </a:t>
            </a:r>
            <a:r>
              <a:rPr lang="en-IN" sz="1000" dirty="0"/>
              <a:t>Engineering Manager</a:t>
            </a:r>
          </a:p>
          <a:p>
            <a:endParaRPr lang="en-IN" sz="1000" dirty="0"/>
          </a:p>
          <a:p>
            <a:r>
              <a:rPr lang="en-IN" sz="1000" dirty="0"/>
              <a:t>Hiren </a:t>
            </a:r>
            <a:r>
              <a:rPr lang="en-IN" sz="1000" dirty="0" err="1"/>
              <a:t>Bharatbhai</a:t>
            </a:r>
            <a:r>
              <a:rPr lang="en-IN" sz="1000" dirty="0"/>
              <a:t> </a:t>
            </a:r>
            <a:r>
              <a:rPr lang="en-IN" sz="1000" dirty="0" err="1" smtClean="0"/>
              <a:t>Gajjar</a:t>
            </a:r>
            <a:endParaRPr lang="en-IN" sz="1000" dirty="0" smtClean="0"/>
          </a:p>
          <a:p>
            <a:r>
              <a:rPr lang="en-IN" sz="1000" dirty="0"/>
              <a:t>Architect</a:t>
            </a:r>
          </a:p>
        </p:txBody>
      </p:sp>
    </p:spTree>
    <p:extLst>
      <p:ext uri="{BB962C8B-B14F-4D97-AF65-F5344CB8AC3E}">
        <p14:creationId xmlns:p14="http://schemas.microsoft.com/office/powerpoint/2010/main" val="1260431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4420</TotalTime>
  <Words>483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SamsungOne 400</vt:lpstr>
      <vt:lpstr>SamsungOne 600C</vt:lpstr>
      <vt:lpstr>SamsungOne 800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VISHUKUMAR ./R&amp;D Strategy Group /SRI-Bangalore/Senior Professional/Samsung Electronics</dc:creator>
  <cp:lastModifiedBy>Rahul Varna/Advance Camera System /SRI-Bangalore/Staff Engineer/Samsung Electronics</cp:lastModifiedBy>
  <cp:revision>43</cp:revision>
  <dcterms:created xsi:type="dcterms:W3CDTF">2022-07-21T07:23:45Z</dcterms:created>
  <dcterms:modified xsi:type="dcterms:W3CDTF">2024-01-25T10:49:20Z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